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130C"/>
              </a:gs>
              <a:gs pos="55000">
                <a:srgbClr val="0A2417"/>
              </a:gs>
              <a:gs pos="100000">
                <a:srgbClr val="07130D"/>
              </a:gs>
            </a:gsLst>
            <a:lin ang="2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72500" y="-1143000"/>
            <a:ext cx="5334000" cy="5334000"/>
          </a:xfrm>
          <a:prstGeom prst="ellipse">
            <a:avLst/>
          </a:prstGeom>
          <a:solidFill>
            <a:srgbClr val="12B3A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3429000"/>
            <a:ext cx="4953000" cy="4953000"/>
          </a:xfrm>
          <a:prstGeom prst="ellipse">
            <a:avLst/>
          </a:prstGeom>
          <a:solidFill>
            <a:srgbClr val="1FA02E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34500" y="4476750"/>
            <a:ext cx="2857500" cy="2857500"/>
          </a:xfrm>
          <a:prstGeom prst="ellipse">
            <a:avLst/>
          </a:prstGeom>
          <a:solidFill>
            <a:srgbClr val="F1D0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724150"/>
            <a:ext cx="1428750" cy="1428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48000" y="2857500"/>
            <a:ext cx="72390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 i="0">
                <a:gradFill>
                  <a:gsLst>
                    <a:gs pos="0">
                      <a:srgbClr val="9BE88A"/>
                    </a:gs>
                    <a:gs pos="48000">
                      <a:srgbClr val="46D8C2"/>
                    </a:gs>
                    <a:gs pos="100000">
                      <a:srgbClr val="F1D000"/>
                    </a:gs>
                  </a:gsLst>
                  <a:lin ang="120000" scaled="1"/>
                </a:gradFill>
                <a:latin typeface="Segoe UI Semibold"/>
              </a:rPr>
              <a:t>Сбер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01 · СБЕР СЕГОДНЯ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C17"/>
                </a:solidFill>
                <a:latin typeface="Segoe UI Semibold"/>
              </a:rPr>
              <a:t>Сбер — больше, чем банк — </a:t>
            </a:r>
            <a:r>
              <a:rPr sz="30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это экосистема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4525"/>
            <a:ext cx="123825" cy="123825"/>
          </a:xfrm>
          <a:prstGeom prst="roundRect">
            <a:avLst>
              <a:gd name="adj" fmla="val 30769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" y="1866900"/>
            <a:ext cx="533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Крупнейший банк страны и финтех-группа — а не просто банк.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43175"/>
            <a:ext cx="123825" cy="123825"/>
          </a:xfrm>
          <a:prstGeom prst="roundRect">
            <a:avLst>
              <a:gd name="adj" fmla="val 30769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3450" y="2495550"/>
            <a:ext cx="533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Опора новой идентичности — искусственный интеллект и собственная модель GigaChat.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71825"/>
            <a:ext cx="123825" cy="123825"/>
          </a:xfrm>
          <a:prstGeom prst="roundRect">
            <a:avLst>
              <a:gd name="adj" fmla="val 30769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450" y="3124200"/>
            <a:ext cx="533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Экосистема сервисов: финансы, торговля, доставка, здоровье, развлечения, облако, устройства. Цель — около 30% дохода от небанковских сервисов.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29075"/>
            <a:ext cx="123825" cy="123825"/>
          </a:xfrm>
          <a:prstGeom prst="roundRect">
            <a:avLst>
              <a:gd name="adj" fmla="val 30769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3981450"/>
            <a:ext cx="533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С 2022 года под западными санкциями; фокус сместился на внутренний рынок и дружественные страны.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1866900"/>
            <a:ext cx="4838700" cy="9906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6100" y="1866900"/>
            <a:ext cx="2266950" cy="990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111 млн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3050" y="1866900"/>
            <a:ext cx="2133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C6B63"/>
                </a:solidFill>
                <a:latin typeface="Segoe UI"/>
              </a:rPr>
              <a:t>активных клиентов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500" y="3009900"/>
            <a:ext cx="4838700" cy="9906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6100" y="3009900"/>
            <a:ext cx="2266950" cy="990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≈3,5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3050" y="3009900"/>
            <a:ext cx="2133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C6B63"/>
                </a:solidFill>
                <a:latin typeface="Segoe UI"/>
              </a:rPr>
              <a:t>компаний-клиентов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0" y="4152900"/>
            <a:ext cx="4838700" cy="9906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6100" y="4152900"/>
            <a:ext cx="2266950" cy="990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~30%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3050" y="4152900"/>
            <a:ext cx="21336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5C6B63"/>
                </a:solidFill>
                <a:latin typeface="Segoe UI"/>
              </a:rPr>
              <a:t>цель — доля небанковских сервисов в доходе группы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95900"/>
            <a:ext cx="10820400" cy="914400"/>
          </a:xfrm>
          <a:prstGeom prst="roundRect">
            <a:avLst>
              <a:gd name="adj" fmla="val 15625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410200"/>
            <a:ext cx="66675" cy="685800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19725"/>
            <a:ext cx="104013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20">
                <a:solidFill>
                  <a:srgbClr val="128E84"/>
                </a:solidFill>
                <a:latin typeface="Segoe UI"/>
              </a:rPr>
              <a:t>КЛЮЧЕВАЯ МЫСЛЬ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19750"/>
            <a:ext cx="104013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«Сберкасса» осталась в прошлом — сейчас это технологическая платформа. </a:t>
            </a:r>
            <a:r>
              <a:rPr sz="1312" b="1" i="0">
                <a:solidFill>
                  <a:srgbClr val="121C17"/>
                </a:solidFill>
                <a:latin typeface="Segoe UI"/>
              </a:rPr>
              <a:t>Но восприятие за этим сдвигом не поспевает.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02 · КАРТА СТЕЙКХОЛДЕРОВ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21C17"/>
                </a:solidFill>
                <a:latin typeface="Segoe UI Semibold"/>
              </a:rPr>
              <a:t>Стейкхолдеры — это </a:t>
            </a:r>
            <a:r>
              <a:rPr sz="285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не целевая аудитория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90700"/>
            <a:ext cx="5191125" cy="876300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1924050"/>
            <a:ext cx="4810125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C17"/>
                </a:solidFill>
                <a:latin typeface="Segoe UI Semibold"/>
              </a:rPr>
              <a:t>Стейкхолдер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190750"/>
            <a:ext cx="48101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5C6B63"/>
                </a:solidFill>
                <a:latin typeface="Segoe UI"/>
              </a:rPr>
              <a:t>Тот, кто влияет на компанию или зависит от неё. Критерий — интерес или влияние, а не факт покупки.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62250"/>
            <a:ext cx="5191125" cy="704850"/>
          </a:xfrm>
          <a:prstGeom prst="roundRect">
            <a:avLst>
              <a:gd name="adj" fmla="val 2432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876550"/>
            <a:ext cx="4810125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C17"/>
                </a:solidFill>
                <a:latin typeface="Segoe UI Semibold"/>
              </a:rPr>
              <a:t>Целевая аудитория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143250"/>
            <a:ext cx="4810125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5C6B63"/>
                </a:solidFill>
                <a:latin typeface="Segoe UI"/>
              </a:rPr>
              <a:t>Адресат конкретного сообщения или кампании.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62350"/>
            <a:ext cx="5191125" cy="742950"/>
          </a:xfrm>
          <a:prstGeom prst="roundRect">
            <a:avLst>
              <a:gd name="adj" fmla="val 19230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676650"/>
            <a:ext cx="66675" cy="514350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95700"/>
            <a:ext cx="4772025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>
                <a:solidFill>
                  <a:srgbClr val="2A362F"/>
                </a:solidFill>
                <a:latin typeface="Segoe UI"/>
              </a:rPr>
              <a:t>Клиент бывает и тем и другим; регулятор — стейкхолдер, но не ЦА рекламы.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3625" y="1790700"/>
            <a:ext cx="514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КАРТА СТЕЙКХОЛДЕРОВ СБЕРА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3625" y="2038350"/>
            <a:ext cx="2638425" cy="13144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5075" y="219075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038" y="2271712"/>
            <a:ext cx="200025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15075" y="262890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1C17"/>
                </a:solidFill>
                <a:latin typeface="Segoe UI Semibold"/>
              </a:rPr>
              <a:t>Государство и регуляторы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5075" y="3009900"/>
            <a:ext cx="2333625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C6B63"/>
                </a:solidFill>
                <a:latin typeface="Segoe UI"/>
              </a:rPr>
              <a:t>Банк России, государство-акционер, законодатели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7775" y="2038350"/>
            <a:ext cx="2638425" cy="13144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39225" y="219075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188" y="2271712"/>
            <a:ext cx="200025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39225" y="262890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1C17"/>
                </a:solidFill>
                <a:latin typeface="Segoe UI Semibold"/>
              </a:rPr>
              <a:t>Инвесторы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9225" y="3009900"/>
            <a:ext cx="2333625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C6B63"/>
                </a:solidFill>
                <a:latin typeface="Segoe UI"/>
              </a:rPr>
              <a:t>Миноритарии, институциональные держатели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3625" y="3438525"/>
            <a:ext cx="2638425" cy="13144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15075" y="3590925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038" y="3671888"/>
            <a:ext cx="200025" cy="2000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15075" y="4029075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1C17"/>
                </a:solidFill>
                <a:latin typeface="Segoe UI Semibold"/>
              </a:rPr>
              <a:t>Клиенты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075" y="4410075"/>
            <a:ext cx="2333625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C6B63"/>
                </a:solidFill>
                <a:latin typeface="Segoe UI"/>
              </a:rPr>
              <a:t>Розница, малый и средний бизнес, корпорации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7775" y="3438525"/>
            <a:ext cx="2638425" cy="13144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39225" y="3590925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188" y="3671888"/>
            <a:ext cx="200025" cy="2000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39225" y="4029075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1C17"/>
                </a:solidFill>
                <a:latin typeface="Segoe UI Semibold"/>
              </a:rPr>
              <a:t>Сотрудники и кадры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9225" y="4410075"/>
            <a:ext cx="2333625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C6B63"/>
                </a:solidFill>
                <a:latin typeface="Segoe UI"/>
              </a:rPr>
              <a:t>Персонал, менеджмент, кандидаты, вузы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3625" y="4838700"/>
            <a:ext cx="2638425" cy="13144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15075" y="499110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038" y="5072062"/>
            <a:ext cx="200025" cy="20002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15075" y="542925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1C17"/>
                </a:solidFill>
                <a:latin typeface="Segoe UI Semibold"/>
              </a:rPr>
              <a:t>Партнёры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075" y="5810250"/>
            <a:ext cx="2333625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C6B63"/>
                </a:solidFill>
                <a:latin typeface="Segoe UI"/>
              </a:rPr>
              <a:t>Компании экосистемы, поставщики, техпартнёры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7775" y="4838700"/>
            <a:ext cx="2638425" cy="131445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39225" y="4991100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0188" y="5072062"/>
            <a:ext cx="200025" cy="2000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39225" y="5429250"/>
            <a:ext cx="2333625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1C17"/>
                </a:solidFill>
                <a:latin typeface="Segoe UI Semibold"/>
              </a:rPr>
              <a:t>Общество и медиа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9225" y="5810250"/>
            <a:ext cx="2333625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5C6B63"/>
                </a:solidFill>
                <a:latin typeface="Segoe UI"/>
              </a:rPr>
              <a:t>Регионы, НКО, профсообщество, СМИ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03 · ОЖИДАНИЯ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C17"/>
                </a:solidFill>
                <a:latin typeface="Segoe UI Semibold"/>
              </a:rPr>
              <a:t>Чего ждут </a:t>
            </a:r>
            <a:r>
              <a:rPr sz="30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ключевые группы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09750"/>
            <a:ext cx="10820400" cy="609600"/>
          </a:xfrm>
          <a:prstGeom prst="roundRect">
            <a:avLst>
              <a:gd name="adj" fmla="val 2343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8200" y="190500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n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00025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90650" y="1809750"/>
            <a:ext cx="23812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121C17"/>
                </a:solidFill>
                <a:latin typeface="Segoe UI Semibold"/>
              </a:rPr>
              <a:t>Регулятор и государство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250" y="1809750"/>
            <a:ext cx="74485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Устойчивость, соблюдение норм, вклад в экономику и технологический суверенитет.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05075"/>
            <a:ext cx="10820400" cy="609600"/>
          </a:xfrm>
          <a:prstGeom prst="roundRect">
            <a:avLst>
              <a:gd name="adj" fmla="val 2343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200" y="2600325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269557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0650" y="2505075"/>
            <a:ext cx="23812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121C17"/>
                </a:solidFill>
                <a:latin typeface="Segoe UI Semibold"/>
              </a:rPr>
              <a:t>Инвесторы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0" y="2505075"/>
            <a:ext cx="74485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Прозрачность, предсказуемость, рост стоимости.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10820400" cy="609600"/>
          </a:xfrm>
          <a:prstGeom prst="roundRect">
            <a:avLst>
              <a:gd name="adj" fmla="val 2343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200" y="329565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339090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0650" y="3200400"/>
            <a:ext cx="23812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121C17"/>
                </a:solidFill>
                <a:latin typeface="Segoe UI Semibold"/>
              </a:rPr>
              <a:t>Клиенты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5250" y="3200400"/>
            <a:ext cx="74485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Сохранность денег и данных, надёжность, удобство, понятная выгода.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95725"/>
            <a:ext cx="10820400" cy="609600"/>
          </a:xfrm>
          <a:prstGeom prst="roundRect">
            <a:avLst>
              <a:gd name="adj" fmla="val 2343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8200" y="3990975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4086225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90650" y="3895725"/>
            <a:ext cx="23812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121C17"/>
                </a:solidFill>
                <a:latin typeface="Segoe UI Semibold"/>
              </a:rPr>
              <a:t>Сотрудники и кандидаты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5250" y="3895725"/>
            <a:ext cx="74485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Интересные задачи, развитие, репутация работодателя.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91050"/>
            <a:ext cx="10820400" cy="609600"/>
          </a:xfrm>
          <a:prstGeom prst="roundRect">
            <a:avLst>
              <a:gd name="adj" fmla="val 2343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8200" y="468630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4781550"/>
            <a:ext cx="228600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90650" y="4591050"/>
            <a:ext cx="23812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121C17"/>
                </a:solidFill>
                <a:latin typeface="Segoe UI Semibold"/>
              </a:rPr>
              <a:t>Общество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5250" y="4591050"/>
            <a:ext cx="744855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Безопасность, доступность услуг, ответственность бизнеса.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24475"/>
            <a:ext cx="10820400" cy="742950"/>
          </a:xfrm>
          <a:prstGeom prst="roundRect">
            <a:avLst>
              <a:gd name="adj" fmla="val 19230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5438775"/>
            <a:ext cx="66675" cy="514350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448300"/>
            <a:ext cx="104013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20">
                <a:solidFill>
                  <a:srgbClr val="128E84"/>
                </a:solidFill>
                <a:latin typeface="Segoe UI"/>
              </a:rPr>
              <a:t>ВЫВОД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48325"/>
            <a:ext cx="104013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Интересы расходятся — например, быстрое внедрение ИИ против тревоги за данные. </a:t>
            </a:r>
            <a:r>
              <a:rPr sz="1200" b="1" i="0">
                <a:solidFill>
                  <a:srgbClr val="121C17"/>
                </a:solidFill>
                <a:latin typeface="Segoe UI"/>
              </a:rPr>
              <a:t>На этих стыках и возникают коммуникационные проблемы.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04 · ДИАГНОЗ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C17"/>
                </a:solidFill>
                <a:latin typeface="Segoe UI Semibold"/>
              </a:rPr>
              <a:t>Три </a:t>
            </a:r>
            <a:r>
              <a:rPr sz="30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коммуникационные проблемы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66900"/>
            <a:ext cx="3448050" cy="4114800"/>
          </a:xfrm>
          <a:prstGeom prst="roundRect">
            <a:avLst>
              <a:gd name="adj" fmla="val 607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5924550"/>
            <a:ext cx="3448050" cy="5715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3009900"/>
            <a:ext cx="29146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7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867150"/>
            <a:ext cx="29146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1C17"/>
                </a:solidFill>
                <a:latin typeface="Segoe UI Semibold"/>
              </a:rPr>
              <a:t>Разрыв в восприятии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591050"/>
            <a:ext cx="29146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C6B63"/>
                </a:solidFill>
                <a:latin typeface="Segoe UI"/>
              </a:rPr>
              <a:t>«Привычный госбанк» против образа технологического лидера.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1975" y="1866900"/>
            <a:ext cx="3448050" cy="4114800"/>
          </a:xfrm>
          <a:prstGeom prst="roundRect">
            <a:avLst>
              <a:gd name="adj" fmla="val 607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1975" y="5924550"/>
            <a:ext cx="3448050" cy="5715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8675" y="3009900"/>
            <a:ext cx="29146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7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675" y="3867150"/>
            <a:ext cx="29146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1C17"/>
                </a:solidFill>
                <a:latin typeface="Segoe UI Semibold"/>
              </a:rPr>
              <a:t>Доверие и безопасность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4591050"/>
            <a:ext cx="29146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C6B63"/>
                </a:solidFill>
                <a:latin typeface="Segoe UI"/>
              </a:rPr>
              <a:t>Мошенничество и настороженность к данным и ИИ бьют по доверию.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8150" y="1866900"/>
            <a:ext cx="3448050" cy="4114800"/>
          </a:xfrm>
          <a:prstGeom prst="roundRect">
            <a:avLst>
              <a:gd name="adj" fmla="val 607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58150" y="5924550"/>
            <a:ext cx="3448050" cy="5715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4850" y="3009900"/>
            <a:ext cx="29146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7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850" y="3867150"/>
            <a:ext cx="29146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1C17"/>
                </a:solidFill>
                <a:latin typeface="Segoe UI Semibold"/>
              </a:rPr>
              <a:t>«Госбанк на господдержке»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50" y="4591050"/>
            <a:ext cx="291465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5C6B63"/>
                </a:solidFill>
                <a:latin typeface="Segoe UI"/>
              </a:rPr>
              <a:t>Мнение, что успех держится на госстатусе, а не на эффективности.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05 · КРУПНЫМ ПЛАНОМ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21C17"/>
                </a:solidFill>
                <a:latin typeface="Segoe UI Semibold"/>
              </a:rPr>
              <a:t>Проблемы </a:t>
            </a:r>
            <a:r>
              <a:rPr sz="285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1 и 2</a:t>
            </a:r>
            <a:r>
              <a:rPr sz="2850" b="1" i="0">
                <a:solidFill>
                  <a:srgbClr val="121C17"/>
                </a:solidFill>
                <a:latin typeface="Segoe UI Semibold"/>
              </a:rPr>
              <a:t> — детально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09750"/>
            <a:ext cx="5267325" cy="440055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3450" y="2000250"/>
            <a:ext cx="762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8750" y="205740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C17"/>
                </a:solidFill>
                <a:latin typeface="Segoe UI Semibold"/>
              </a:rPr>
              <a:t>Разрыв в восприятии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3450" y="27717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24150"/>
            <a:ext cx="4572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Сбер вкладывается в ИИ, но в массовом сознании остаётся «Сбербанком» — банком по привычке.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3450" y="34194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71850"/>
            <a:ext cx="4572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Реальная идентичность опережает репутацию.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" y="5219700"/>
            <a:ext cx="4772025" cy="9525"/>
          </a:xfrm>
          <a:prstGeom prst="roundRect">
            <a:avLst>
              <a:gd name="adj" fmla="val 0"/>
            </a:avLst>
          </a:prstGeom>
          <a:solidFill>
            <a:srgbClr val="D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3450" y="5334000"/>
            <a:ext cx="48101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15822A"/>
                </a:solidFill>
                <a:latin typeface="Segoe UI"/>
              </a:rPr>
              <a:t>Кого касается: </a:t>
            </a:r>
            <a:r>
              <a:rPr sz="1087" b="0" i="0">
                <a:solidFill>
                  <a:srgbClr val="2A362F"/>
                </a:solidFill>
                <a:latin typeface="Segoe UI"/>
              </a:rPr>
              <a:t>общество, IT-сообщество, инвесторы, кандидаты.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5772150"/>
            <a:ext cx="48101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C0392B"/>
                </a:solidFill>
                <a:latin typeface="Segoe UI"/>
              </a:rPr>
              <a:t>Риск: </a:t>
            </a:r>
            <a:r>
              <a:rPr sz="1087" b="0" i="0">
                <a:solidFill>
                  <a:srgbClr val="2A362F"/>
                </a:solidFill>
                <a:latin typeface="Segoe UI"/>
              </a:rPr>
              <a:t>вложения в технологии не превращаются в образ лидера.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5" y="1809750"/>
            <a:ext cx="5267325" cy="4400550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6525" y="2000250"/>
            <a:ext cx="762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1825" y="205740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C17"/>
                </a:solidFill>
                <a:latin typeface="Segoe UI Semibold"/>
              </a:rPr>
              <a:t>Доверие и безопасность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6525" y="27717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6075" y="2724150"/>
            <a:ext cx="4572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Телефонное мошенничество растёт; потеряв деньги, человек нередко винит банк.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6525" y="34194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6075" y="3371850"/>
            <a:ext cx="4572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Рядом — тревога вокруг обработки данных и ИИ.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6525" y="5219700"/>
            <a:ext cx="4772025" cy="9525"/>
          </a:xfrm>
          <a:prstGeom prst="roundRect">
            <a:avLst>
              <a:gd name="adj" fmla="val 0"/>
            </a:avLst>
          </a:prstGeom>
          <a:solidFill>
            <a:srgbClr val="D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6525" y="5334000"/>
            <a:ext cx="48101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15822A"/>
                </a:solidFill>
                <a:latin typeface="Segoe UI"/>
              </a:rPr>
              <a:t>Кого касается: </a:t>
            </a:r>
            <a:r>
              <a:rPr sz="1087" b="0" i="0">
                <a:solidFill>
                  <a:srgbClr val="2A362F"/>
                </a:solidFill>
                <a:latin typeface="Segoe UI"/>
              </a:rPr>
              <a:t>розничные клиенты, регулятор, общество.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5772150"/>
            <a:ext cx="4810125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C0392B"/>
                </a:solidFill>
                <a:latin typeface="Segoe UI"/>
              </a:rPr>
              <a:t>Риск: </a:t>
            </a:r>
            <a:r>
              <a:rPr sz="1087" b="0" i="0">
                <a:solidFill>
                  <a:srgbClr val="2A362F"/>
                </a:solidFill>
                <a:latin typeface="Segoe UI"/>
              </a:rPr>
              <a:t>подрывается главный актив банка — доверие.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06 · ПРОБЛЕМА 3 И ОТВЕТ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C17"/>
                </a:solidFill>
                <a:latin typeface="Segoe UI Semibold"/>
              </a:rPr>
              <a:t>«Госбанк на господдержке» — </a:t>
            </a:r>
            <a:r>
              <a:rPr sz="27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и ответ на него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71650"/>
            <a:ext cx="4953000" cy="4438650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71650"/>
            <a:ext cx="4953000" cy="38100"/>
          </a:xfrm>
          <a:prstGeom prst="roundRect">
            <a:avLst>
              <a:gd name="adj" fmla="val 0"/>
            </a:avLst>
          </a:prstGeom>
          <a:solidFill>
            <a:srgbClr val="E29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3450" y="1962150"/>
            <a:ext cx="6667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86A4A"/>
                </a:solidFill>
                <a:latin typeface="Segoe UI Semibol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2019300"/>
            <a:ext cx="4000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C17"/>
                </a:solidFill>
                <a:latin typeface="Segoe UI Semibold"/>
              </a:rPr>
              <a:t>В чём упрёк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50" y="27146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47950"/>
            <a:ext cx="428625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A362F"/>
                </a:solidFill>
                <a:latin typeface="Segoe UI"/>
              </a:rPr>
              <a:t>Сбер силён не своей эффективностью, а госстатусом: дешёвым фондированием, системной поддержкой, близостью к власти.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50" y="5219700"/>
            <a:ext cx="4457700" cy="9525"/>
          </a:xfrm>
          <a:prstGeom prst="roundRect">
            <a:avLst>
              <a:gd name="adj" fmla="val 0"/>
            </a:avLst>
          </a:prstGeom>
          <a:solidFill>
            <a:srgbClr val="D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450" y="5334000"/>
            <a:ext cx="4476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15822A"/>
                </a:solidFill>
                <a:latin typeface="Segoe UI"/>
              </a:rPr>
              <a:t>Кого касается: </a:t>
            </a:r>
            <a:r>
              <a:rPr sz="1087" b="0" i="0">
                <a:solidFill>
                  <a:srgbClr val="2A362F"/>
                </a:solidFill>
                <a:latin typeface="Segoe UI"/>
              </a:rPr>
              <a:t>общество, деловое и экспертное сообщество, инвесторы.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5772150"/>
            <a:ext cx="44767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7" b="1" i="0">
                <a:solidFill>
                  <a:srgbClr val="C0392B"/>
                </a:solidFill>
                <a:latin typeface="Segoe UI"/>
              </a:rPr>
              <a:t>Риск: </a:t>
            </a:r>
            <a:r>
              <a:rPr sz="1087" b="0" i="0">
                <a:solidFill>
                  <a:srgbClr val="2A362F"/>
                </a:solidFill>
                <a:latin typeface="Segoe UI"/>
              </a:rPr>
              <a:t>достижения банка обесцениваются как «нерыночные».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5500" y="1809750"/>
            <a:ext cx="5600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80">
                <a:solidFill>
                  <a:srgbClr val="128E84"/>
                </a:solidFill>
                <a:latin typeface="Segoe UI"/>
              </a:rPr>
              <a:t>РЕШЕНИЕ: ПОКАЗАТЬ ОБРАТНЫЙ ПОТОК ЦЕННОСТИ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05500" y="2057400"/>
            <a:ext cx="27241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6950" y="2190750"/>
            <a:ext cx="23812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1,3 трлн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6950" y="2459736"/>
            <a:ext cx="2381250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3"/>
                </a:solidFill>
                <a:latin typeface="Segoe UI"/>
              </a:rPr>
              <a:t>вклад группы в бюджет за 2025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2050" y="2057400"/>
            <a:ext cx="27241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500" y="2190750"/>
            <a:ext cx="23812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543 млрд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0" y="2459736"/>
            <a:ext cx="2381250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3"/>
                </a:solidFill>
                <a:latin typeface="Segoe UI"/>
              </a:rPr>
              <a:t>из них налог на прибыль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05500" y="3048000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5050" y="2971800"/>
            <a:ext cx="53911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2A362F"/>
                </a:solidFill>
                <a:latin typeface="Segoe UI"/>
              </a:rPr>
              <a:t>Рыночный успех, а не только статус: самая дорогая компания на бирже, лидер по внедрению ИИ в России, одно из лучших соотношений расходов к доходам.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5500" y="3829050"/>
            <a:ext cx="5600700" cy="552450"/>
          </a:xfrm>
          <a:prstGeom prst="roundRect">
            <a:avLst>
              <a:gd name="adj" fmla="val 25862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05500" y="3943350"/>
            <a:ext cx="66675" cy="323850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4100" y="3962400"/>
            <a:ext cx="51816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37" b="1" i="0">
                <a:solidFill>
                  <a:srgbClr val="121C17"/>
                </a:solidFill>
                <a:latin typeface="Segoe UI"/>
              </a:rPr>
              <a:t>Не государство содержит Сбер — Сбер наполняет бюджет.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4552950"/>
            <a:ext cx="5600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28E84"/>
                </a:solidFill>
                <a:latin typeface="Segoe UI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05500" y="4781550"/>
            <a:ext cx="163449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5500" y="4781550"/>
            <a:ext cx="163449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2A362F"/>
                </a:solidFill>
                <a:latin typeface="Segoe UI"/>
              </a:rPr>
              <a:t>Годовой отчёт и МСФО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5715" y="4781550"/>
            <a:ext cx="1010412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5715" y="4781550"/>
            <a:ext cx="1010412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2A362F"/>
                </a:solidFill>
                <a:latin typeface="Segoe UI"/>
              </a:rPr>
              <a:t>Деловые СМИ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21852" y="4781550"/>
            <a:ext cx="2119884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21852" y="4781550"/>
            <a:ext cx="2119884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2A362F"/>
                </a:solidFill>
                <a:latin typeface="Segoe UI"/>
              </a:rPr>
              <a:t>Выступления топ-менеджмента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05500" y="5124450"/>
            <a:ext cx="163449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5500" y="5124450"/>
            <a:ext cx="163449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2A362F"/>
                </a:solidFill>
                <a:latin typeface="Segoe UI"/>
              </a:rPr>
              <a:t>Инфографика о вкладе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25715" y="5124450"/>
            <a:ext cx="733044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5715" y="5124450"/>
            <a:ext cx="733044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2A362F"/>
                </a:solidFill>
                <a:latin typeface="Segoe UI"/>
              </a:rPr>
              <a:t>IR / GR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07 · ИНСТРУМЕНТЫ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C17"/>
                </a:solidFill>
                <a:latin typeface="Segoe UI Semibold"/>
              </a:rPr>
              <a:t>Инструменты </a:t>
            </a:r>
            <a:r>
              <a:rPr sz="30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под каждую проблему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66900"/>
            <a:ext cx="3448050" cy="4114800"/>
          </a:xfrm>
          <a:prstGeom prst="roundRect">
            <a:avLst>
              <a:gd name="adj" fmla="val 552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50" y="21145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2214562"/>
            <a:ext cx="238125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450" y="2686050"/>
            <a:ext cx="2952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C17"/>
                </a:solidFill>
                <a:latin typeface="Segoe UI Semibold"/>
              </a:rPr>
              <a:t>Восприятие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450" y="33242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7660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Экспертные публикации и выступления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50" y="39528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90525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Профильные СМИ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50" y="43719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2435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Конференция AI Journey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450" y="47910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74345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Узнаваемые спикеры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1975" y="1866900"/>
            <a:ext cx="3448050" cy="4114800"/>
          </a:xfrm>
          <a:prstGeom prst="roundRect">
            <a:avLst>
              <a:gd name="adj" fmla="val 552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19625" y="21145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638" y="2214562"/>
            <a:ext cx="238125" cy="2381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19625" y="2686050"/>
            <a:ext cx="2952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C17"/>
                </a:solidFill>
                <a:latin typeface="Segoe UI Semibold"/>
              </a:rPr>
              <a:t>Доверие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9625" y="33242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9175" y="327660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Финансовая и цифровая грамотность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9625" y="39528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9175" y="390525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Протоколы реагирования на инциденты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9625" y="45815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9175" y="453390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Открытый разговор о защите данных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9625" y="52101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9175" y="516255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Партнёрство с государством и НКО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8150" y="1866900"/>
            <a:ext cx="3448050" cy="4114800"/>
          </a:xfrm>
          <a:prstGeom prst="roundRect">
            <a:avLst>
              <a:gd name="adj" fmla="val 552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05800" y="21145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812" y="2214562"/>
            <a:ext cx="238125" cy="2381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05800" y="2686050"/>
            <a:ext cx="295275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C17"/>
                </a:solidFill>
                <a:latin typeface="Segoe UI Semibold"/>
              </a:rPr>
              <a:t>«Госбанк на господдержке»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05800" y="33242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15350" y="327660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Факты о вкладе в бюджет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5800" y="37433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5350" y="369570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Годовой отчёт и МСФО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5800" y="41624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5350" y="411480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Деловые СМИ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5800" y="458152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5350" y="453390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Инфографика об экономическом вкладе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05800" y="5210175"/>
            <a:ext cx="104775" cy="104775"/>
          </a:xfrm>
          <a:prstGeom prst="roundRect">
            <a:avLst>
              <a:gd name="adj" fmla="val 36363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15350" y="5162550"/>
            <a:ext cx="27432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2A362F"/>
                </a:solidFill>
                <a:latin typeface="Segoe UI"/>
              </a:rPr>
              <a:t>IR / GR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08 · ФЛАГМАН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C17"/>
                </a:solidFill>
                <a:latin typeface="Segoe UI Semibold"/>
              </a:rPr>
              <a:t>Конференция </a:t>
            </a:r>
            <a:r>
              <a:rPr sz="30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AI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90700"/>
            <a:ext cx="53340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1943100"/>
            <a:ext cx="4991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ФОРМАТ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152650"/>
            <a:ext cx="49911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Ежегодная международная конференция по ИИ: научный, деловой и образовательный треки, открытая онлайн-трансляция, конкурсы для разработчиков и исследователей.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62300"/>
            <a:ext cx="5334000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3314700"/>
            <a:ext cx="4991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РОЛЬ ПЛОЩАДКИ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24250"/>
            <a:ext cx="49911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Здесь Сбер представляет новые версии GigaChat — событие работает как витрина технологий.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10050"/>
            <a:ext cx="5334000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4362450"/>
            <a:ext cx="4991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НА КОГО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572000"/>
            <a:ext cx="49911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Разработчики и учёные, IT-сообщество, медиа, частично государство и инвесторы.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500" y="1790700"/>
            <a:ext cx="5219700" cy="1428750"/>
          </a:xfrm>
          <a:prstGeom prst="roundRect">
            <a:avLst>
              <a:gd name="adj" fmla="val 10000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86500" y="1905000"/>
            <a:ext cx="66675" cy="1200150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1914525"/>
            <a:ext cx="4800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20">
                <a:solidFill>
                  <a:srgbClr val="128E84"/>
                </a:solidFill>
                <a:latin typeface="Segoe UI"/>
              </a:rPr>
              <a:t>ЗАЧЕМ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2114550"/>
            <a:ext cx="480060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A362F"/>
                </a:solidFill>
                <a:latin typeface="Segoe UI"/>
              </a:rPr>
              <a:t>Закрепить образ технологического лидера, показать зрелость GigaChat и научной школы, повысить доверие к российскому 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500" y="3352800"/>
            <a:ext cx="5219700" cy="17716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6050" y="3524250"/>
            <a:ext cx="485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КАКИЕ ПРОБЛЕМЫ ЗАКРЫВАЕТ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6050" y="3771900"/>
            <a:ext cx="1367790" cy="2667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C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6050" y="3771900"/>
            <a:ext cx="136779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362F"/>
                </a:solidFill>
                <a:latin typeface="Segoe UI"/>
              </a:rPr>
              <a:t>№1 · Восприятие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49565" y="3771900"/>
            <a:ext cx="2114550" cy="2667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C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9565" y="3771900"/>
            <a:ext cx="21145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362F"/>
                </a:solidFill>
                <a:latin typeface="Segoe UI"/>
              </a:rPr>
              <a:t>отчасти №2 · Доверие к 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6050" y="4400550"/>
            <a:ext cx="48577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3"/>
                </a:solidFill>
                <a:latin typeface="Segoe UI"/>
              </a:rPr>
              <a:t>Показывает, что Сбер конкурирует на технологиях.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09 · ФЛАГМАН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СберУниверситет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90700"/>
            <a:ext cx="5334000" cy="11049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1924050"/>
            <a:ext cx="4991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ФОРМАТ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133600"/>
            <a:ext cx="49911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Корпоративный университет с кампусом в Истре: программы для сотрудников и руководителей плюс открытые форматы.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28950"/>
            <a:ext cx="5334000" cy="8001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3162300"/>
            <a:ext cx="4991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ПУБЛИЧНОЕ СОБЫТИЕ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71850"/>
            <a:ext cx="49911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Ежегодная конференция «Больше чем обучение».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62400"/>
            <a:ext cx="53340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4095750"/>
            <a:ext cx="4991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НА КОГО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305300"/>
            <a:ext cx="49911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A362F"/>
                </a:solidFill>
                <a:latin typeface="Segoe UI"/>
              </a:rPr>
              <a:t>Внутри — сотрудники и менеджмент. Снаружи — кандидаты, студенты и вузы, профессиональное сообщество, медиа.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500" y="1790700"/>
            <a:ext cx="1676400" cy="9906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7950" y="1924050"/>
            <a:ext cx="1333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≈10 000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2177415"/>
            <a:ext cx="1333500" cy="565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3"/>
                </a:solidFill>
                <a:latin typeface="Segoe UI"/>
              </a:rPr>
              <a:t>участников очно и онлайн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150" y="1790700"/>
            <a:ext cx="1676400" cy="9906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4050"/>
            <a:ext cx="1333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4 млн+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77415"/>
            <a:ext cx="1333500" cy="565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3"/>
                </a:solidFill>
                <a:latin typeface="Segoe UI"/>
              </a:rPr>
              <a:t>просмотров трансляции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790700"/>
            <a:ext cx="1676400" cy="9906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1250" y="1924050"/>
            <a:ext cx="1333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gradFill>
                  <a:gsLst>
                    <a:gs pos="0">
                      <a:srgbClr val="1FA02E"/>
                    </a:gs>
                    <a:gs pos="100000">
                      <a:srgbClr val="11A293"/>
                    </a:gs>
                  </a:gsLst>
                  <a:lin ang="0" scaled="1"/>
                </a:gradFill>
                <a:latin typeface="Segoe UI Semibold"/>
              </a:rPr>
              <a:t>50+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0" y="2177415"/>
            <a:ext cx="1333500" cy="5657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3"/>
                </a:solidFill>
                <a:latin typeface="Segoe UI"/>
              </a:rPr>
              <a:t>спикеров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6500" y="2914650"/>
            <a:ext cx="5219700" cy="914400"/>
          </a:xfrm>
          <a:prstGeom prst="roundRect">
            <a:avLst>
              <a:gd name="adj" fmla="val 15625"/>
            </a:avLst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86500" y="3028950"/>
            <a:ext cx="66675" cy="685800"/>
          </a:xfrm>
          <a:prstGeom prst="roundRect">
            <a:avLst>
              <a:gd name="adj" fmla="val 42857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5100" y="3038475"/>
            <a:ext cx="4800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20">
                <a:solidFill>
                  <a:srgbClr val="128E84"/>
                </a:solidFill>
                <a:latin typeface="Segoe UI"/>
              </a:rPr>
              <a:t>ЗАЧЕМ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3238500"/>
            <a:ext cx="48006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2A362F"/>
                </a:solidFill>
                <a:latin typeface="Segoe UI"/>
              </a:rPr>
              <a:t>Усилить репутацию работодателя, показать экспертизу в образовании и управлении.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500" y="3962400"/>
            <a:ext cx="52197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6050" y="4114800"/>
            <a:ext cx="485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7" b="1" i="0" spc="110">
                <a:solidFill>
                  <a:srgbClr val="128E84"/>
                </a:solidFill>
                <a:latin typeface="Segoe UI"/>
              </a:rPr>
              <a:t>КАКИЕ ПРОБЛЕМЫ ЗАКРЫВАЕТ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6050" y="4362450"/>
            <a:ext cx="3757422" cy="266700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12700">
            <a:solidFill>
              <a:srgbClr val="CDE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6050" y="4362450"/>
            <a:ext cx="3757422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362F"/>
                </a:solidFill>
                <a:latin typeface="Segoe UI"/>
              </a:rPr>
              <a:t>№1 · Образ современной, развивающей организации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0550"/>
            <a:ext cx="142875" cy="142875"/>
          </a:xfrm>
          <a:prstGeom prst="roundRect">
            <a:avLst>
              <a:gd name="adj" fmla="val 35000"/>
            </a:avLst>
          </a:prstGeom>
          <a:gradFill>
            <a:gsLst>
              <a:gs pos="0">
                <a:srgbClr val="21A038"/>
              </a:gs>
              <a:gs pos="55000">
                <a:srgbClr val="12B3A6"/>
              </a:gs>
              <a:gs pos="100000">
                <a:srgbClr val="F1D0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1975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7" b="1" i="0" spc="140">
                <a:solidFill>
                  <a:srgbClr val="15822A"/>
                </a:solidFill>
                <a:latin typeface="Segoe UI"/>
              </a:rPr>
              <a:t>10 ·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76300"/>
            <a:ext cx="108204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1C17"/>
                </a:solidFill>
                <a:latin typeface="Segoe UI Semibold"/>
              </a:rPr>
              <a:t>Как </a:t>
            </a:r>
            <a:r>
              <a:rPr sz="3000" b="1" i="0">
                <a:gradFill>
                  <a:gsLst>
                    <a:gs pos="0">
                      <a:srgbClr val="21A038"/>
                    </a:gs>
                    <a:gs pos="55000">
                      <a:srgbClr val="12B3A6"/>
                    </a:gs>
                    <a:gs pos="100000">
                      <a:srgbClr val="F1D000"/>
                    </a:gs>
                  </a:gsLst>
                  <a:lin ang="0" scaled="1"/>
                </a:gradFill>
                <a:latin typeface="Segoe UI Semibold"/>
              </a:rPr>
              <a:t>измерять результат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5000"/>
            <a:ext cx="5353050" cy="20002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" y="21526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2252662"/>
            <a:ext cx="238125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" y="2724150"/>
            <a:ext cx="4819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C17"/>
                </a:solidFill>
                <a:latin typeface="Segoe UI Semibold"/>
              </a:rPr>
              <a:t>Медиа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43250"/>
            <a:ext cx="48196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3"/>
                </a:solidFill>
                <a:latin typeface="Segoe UI"/>
              </a:rPr>
              <a:t>Число и тональность упоминаний; доля «технологического» сюжета в публикациях.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150" y="1905000"/>
            <a:ext cx="5353050" cy="20002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850" y="21526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862" y="2252662"/>
            <a:ext cx="238125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850" y="2724150"/>
            <a:ext cx="4819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C17"/>
                </a:solidFill>
                <a:latin typeface="Segoe UI Semibold"/>
              </a:rPr>
              <a:t>Доверие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143250"/>
            <a:ext cx="48196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3"/>
                </a:solidFill>
                <a:latin typeface="Segoe UI"/>
              </a:rPr>
              <a:t>Опросы восприятия (банк против техкомпании); динамика темы безопасности.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076700"/>
            <a:ext cx="5353050" cy="20002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2500" y="43243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2" y="4424362"/>
            <a:ext cx="238125" cy="238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2500" y="4895850"/>
            <a:ext cx="4819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C17"/>
                </a:solidFill>
                <a:latin typeface="Segoe UI Semibold"/>
              </a:rPr>
              <a:t>Легитимность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5314950"/>
            <a:ext cx="48196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3"/>
                </a:solidFill>
                <a:latin typeface="Segoe UI"/>
              </a:rPr>
              <a:t>Доля публикаций, где Сбер показан как вкладчик в бюджет и рыночный игрок.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150" y="4076700"/>
            <a:ext cx="5353050" cy="20002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DDE6E0"/>
            </a:solidFill>
          </a:ln>
          <a:effectLst>
            <a:outerShdw blurRad="190500" dist="85725" dir="5400000" rotWithShape="0">
              <a:srgbClr val="15301F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850" y="4324350"/>
            <a:ext cx="438150" cy="438150"/>
          </a:xfrm>
          <a:prstGeom prst="roundRect">
            <a:avLst>
              <a:gd name="adj" fmla="val 26086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862" y="4424362"/>
            <a:ext cx="238125" cy="2381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19850" y="4895850"/>
            <a:ext cx="4819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C17"/>
                </a:solidFill>
                <a:latin typeface="Segoe UI Semibold"/>
              </a:rPr>
              <a:t>Охваты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850" y="5314950"/>
            <a:ext cx="48196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3"/>
                </a:solidFill>
                <a:latin typeface="Segoe UI"/>
              </a:rPr>
              <a:t>Аудитория ключевых событий — AI Journey и «Больше чем обучение».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