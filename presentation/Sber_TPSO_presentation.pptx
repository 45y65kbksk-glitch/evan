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van/presentation/assets/sber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481328"/>
            <a:ext cx="3749040" cy="3749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960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 И ПРАКТИКА СВЯЗЕЙ С ОБЩЕСТВЕННОСТЬЮ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37160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Сбер</a:t>
            </a:r>
            <a:endParaRPr lang="en-US" sz="9600" dirty="0"/>
          </a:p>
        </p:txBody>
      </p:sp>
      <p:sp>
        <p:nvSpPr>
          <p:cNvPr id="5" name="Text 2"/>
          <p:cNvSpPr/>
          <p:nvPr/>
        </p:nvSpPr>
        <p:spPr>
          <a:xfrm>
            <a:off x="777240" y="30632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E7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Стейкхолдеры, коммуникационные проблемы и PR-решения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777240" y="4370832"/>
            <a:ext cx="2542032" cy="475488"/>
          </a:xfrm>
          <a:prstGeom prst="roundRect">
            <a:avLst>
              <a:gd name="adj" fmla="val 50000"/>
            </a:avLst>
          </a:prstGeom>
          <a:solidFill>
            <a:srgbClr val="21A038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370832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Семестровый проект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Ваше имя ]</a:t>
            </a:r>
            <a:pPr indent="0" marL="0">
              <a:buNone/>
            </a:pPr>
            <a:r>
              <a:rPr lang="en-US" sz="1500" dirty="0">
                <a:solidFill>
                  <a:srgbClr val="A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[ факультет, группа ]   ·  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1434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0519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Сбер сегодня</a:t>
            </a:r>
            <a:endParaRPr lang="en-US" sz="3100" dirty="0"/>
          </a:p>
        </p:txBody>
      </p:sp>
      <p:pic>
        <p:nvPicPr>
          <p:cNvPr id="4" name="Image 0" descr="/home/user/Evan/presentation/assets/sb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2703" y="420624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Сбер · Теория и практика связей с общественностью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161727" y="6455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66928" y="1664208"/>
            <a:ext cx="512064" cy="512064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185" y="1802465"/>
            <a:ext cx="235549" cy="2355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43584" y="1609344"/>
            <a:ext cx="57698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Больше, чем банк
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Крупнейший банк страны и финансово-технологическая группа, а не просто банк.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66928" y="2542032"/>
            <a:ext cx="512064" cy="512064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85" y="2680289"/>
            <a:ext cx="235549" cy="23554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43584" y="2487168"/>
            <a:ext cx="57698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Искусственный интеллект в основе
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Опора новой идентичности — ИИ и собственная модель GigaChat.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566928" y="3419856"/>
            <a:ext cx="512064" cy="512064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185" y="3558113"/>
            <a:ext cx="235549" cy="23554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43584" y="3364992"/>
            <a:ext cx="57698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Экосистема сервисов
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Финансы, торговля, доставка, здоровье, развлечения, облако, устройства. Цель — около 30% дохода от небанковских сервисов.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566928" y="4297680"/>
            <a:ext cx="512064" cy="512064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185" y="4435937"/>
            <a:ext cx="235549" cy="23554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43584" y="4242816"/>
            <a:ext cx="57698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санкциями с 2022 года
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Фокус сместился на внутренний рынок и дружественные страны.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7269480" y="1627632"/>
            <a:ext cx="4355287" cy="1481328"/>
          </a:xfrm>
          <a:prstGeom prst="roundRect">
            <a:avLst>
              <a:gd name="adj" fmla="val 4938"/>
            </a:avLst>
          </a:prstGeom>
          <a:solidFill>
            <a:srgbClr val="E9F5EC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10838383" y="1865376"/>
            <a:ext cx="512064" cy="512064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6640" y="2003633"/>
            <a:ext cx="235549" cy="235549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543800" y="1828800"/>
            <a:ext cx="344088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 млн</a:t>
            </a:r>
            <a:endParaRPr lang="en-US" sz="4200" dirty="0"/>
          </a:p>
        </p:txBody>
      </p:sp>
      <p:sp>
        <p:nvSpPr>
          <p:cNvPr id="23" name="Text 15"/>
          <p:cNvSpPr/>
          <p:nvPr/>
        </p:nvSpPr>
        <p:spPr>
          <a:xfrm>
            <a:off x="7543800" y="2496312"/>
            <a:ext cx="38980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активных клиентов</a:t>
            </a:r>
            <a:endParaRPr lang="en-US" sz="1350" dirty="0"/>
          </a:p>
        </p:txBody>
      </p:sp>
      <p:sp>
        <p:nvSpPr>
          <p:cNvPr id="24" name="Shape 16"/>
          <p:cNvSpPr/>
          <p:nvPr/>
        </p:nvSpPr>
        <p:spPr>
          <a:xfrm>
            <a:off x="7269480" y="3246120"/>
            <a:ext cx="4355287" cy="1481328"/>
          </a:xfrm>
          <a:prstGeom prst="roundRect">
            <a:avLst>
              <a:gd name="adj" fmla="val 4938"/>
            </a:avLst>
          </a:prstGeom>
          <a:solidFill>
            <a:srgbClr val="E9F5EC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10838383" y="3483864"/>
            <a:ext cx="512064" cy="512064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6640" y="3622121"/>
            <a:ext cx="235549" cy="235549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543800" y="3447288"/>
            <a:ext cx="344088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3,5 млн</a:t>
            </a:r>
            <a:endParaRPr lang="en-US" sz="4200" dirty="0"/>
          </a:p>
        </p:txBody>
      </p:sp>
      <p:sp>
        <p:nvSpPr>
          <p:cNvPr id="28" name="Text 19"/>
          <p:cNvSpPr/>
          <p:nvPr/>
        </p:nvSpPr>
        <p:spPr>
          <a:xfrm>
            <a:off x="7543800" y="4114800"/>
            <a:ext cx="38980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компаний-клиентов</a:t>
            </a:r>
            <a:endParaRPr lang="en-US" sz="1350" dirty="0"/>
          </a:p>
        </p:txBody>
      </p:sp>
      <p:sp>
        <p:nvSpPr>
          <p:cNvPr id="29" name="Shape 20"/>
          <p:cNvSpPr/>
          <p:nvPr/>
        </p:nvSpPr>
        <p:spPr>
          <a:xfrm>
            <a:off x="566928" y="5230368"/>
            <a:ext cx="11057839" cy="1042416"/>
          </a:xfrm>
          <a:prstGeom prst="roundRect">
            <a:avLst>
              <a:gd name="adj" fmla="val 7018"/>
            </a:avLst>
          </a:prstGeom>
          <a:solidFill>
            <a:srgbClr val="21A038"/>
          </a:solidFill>
          <a:ln/>
          <a:effectLst>
            <a:outerShdw sx="100000" sy="100000" kx="0" ky="0" algn="bl" rotWithShape="0" blurRad="101600" dist="25400" dir="5400000">
              <a:srgbClr val="0A5C20">
                <a:alpha val="18000"/>
              </a:srgbClr>
            </a:outerShdw>
          </a:effectLst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24" y="5477256"/>
            <a:ext cx="548640" cy="54864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682496" y="5303520"/>
            <a:ext cx="9667951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мысль:  </a:t>
            </a:r>
            <a:pPr algn="l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«Сберкасса» осталась в прошлом — сейчас это технологическая платформа. Но восприятие за этим сдвигом не поспевает.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1434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СТЕЙКХОЛДЕРЫ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0519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Стейкхолдеры — это не целевая аудитория</a:t>
            </a:r>
            <a:endParaRPr lang="en-US" sz="3100" dirty="0"/>
          </a:p>
        </p:txBody>
      </p:sp>
      <p:pic>
        <p:nvPicPr>
          <p:cNvPr id="4" name="Image 0" descr="/home/user/Evan/presentation/assets/sb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2703" y="420624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Сбер · Теория и практика связей с общественностью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161727" y="6455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66928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Различение понятий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" y="1792224"/>
            <a:ext cx="5391760" cy="1170432"/>
          </a:xfrm>
          <a:prstGeom prst="roundRect">
            <a:avLst>
              <a:gd name="adj" fmla="val 6250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1920240"/>
            <a:ext cx="493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Стейкхолдер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2304288"/>
            <a:ext cx="493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Тот, кто влияет на компанию или зависит от неё. Критерий — интерес или влияние, а не факт покупки.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33008" y="1792224"/>
            <a:ext cx="5391760" cy="1170432"/>
          </a:xfrm>
          <a:prstGeom prst="roundRect">
            <a:avLst>
              <a:gd name="adj" fmla="val 6250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89040" y="1920240"/>
            <a:ext cx="493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аудитория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89040" y="2304288"/>
            <a:ext cx="493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Адресат конкретного сообщения или кампании.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66928" y="3054096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Примечание:  </a:t>
            </a:r>
            <a:pPr indent="0" marL="0">
              <a:buNone/>
            </a:pPr>
            <a:r>
              <a:rPr lang="en-US" sz="1200" i="1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бывает и тем и другим; регулятор — стейкхолдер, но не ЦА рекламы.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6928" y="35295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стейкхолдеров Сбера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66928" y="3895344"/>
            <a:ext cx="3503066" cy="1097280"/>
          </a:xfrm>
          <a:prstGeom prst="roundRect">
            <a:avLst>
              <a:gd name="adj" fmla="val 6667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68096" y="4096512"/>
            <a:ext cx="457200" cy="457200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4219956"/>
            <a:ext cx="210312" cy="21031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335024" y="4059936"/>
            <a:ext cx="25886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Государство и регуляторы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786384" y="4498848"/>
            <a:ext cx="30824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 России, государство-акционер, законодатели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344314" y="3895344"/>
            <a:ext cx="3503066" cy="1097280"/>
          </a:xfrm>
          <a:prstGeom prst="roundRect">
            <a:avLst>
              <a:gd name="adj" fmla="val 6667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545482" y="4096512"/>
            <a:ext cx="457200" cy="457200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926" y="4219956"/>
            <a:ext cx="210312" cy="21031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112410" y="4059936"/>
            <a:ext cx="25886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Инвесторы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4563770" y="4498848"/>
            <a:ext cx="30824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миноритарии, институциональные держатели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8121701" y="3895344"/>
            <a:ext cx="3503066" cy="1097280"/>
          </a:xfrm>
          <a:prstGeom prst="roundRect">
            <a:avLst>
              <a:gd name="adj" fmla="val 6667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322869" y="4096512"/>
            <a:ext cx="457200" cy="457200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6313" y="4219956"/>
            <a:ext cx="210312" cy="21031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889797" y="4059936"/>
            <a:ext cx="25886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Клиенты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8341157" y="4498848"/>
            <a:ext cx="30824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розница, малый и средний бизнес, корпорации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566928" y="5230368"/>
            <a:ext cx="3503066" cy="1097280"/>
          </a:xfrm>
          <a:prstGeom prst="roundRect">
            <a:avLst>
              <a:gd name="adj" fmla="val 6667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768096" y="5431536"/>
            <a:ext cx="457200" cy="457200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5554980"/>
            <a:ext cx="210312" cy="21031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335024" y="5394960"/>
            <a:ext cx="25886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Сотрудники и кадры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786384" y="5833872"/>
            <a:ext cx="30824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персонал, менеджмент, кандидаты, вузы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4344314" y="5230368"/>
            <a:ext cx="3503066" cy="1097280"/>
          </a:xfrm>
          <a:prstGeom prst="roundRect">
            <a:avLst>
              <a:gd name="adj" fmla="val 6667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4545482" y="5431536"/>
            <a:ext cx="457200" cy="457200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8926" y="5554980"/>
            <a:ext cx="210312" cy="21031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112410" y="5394960"/>
            <a:ext cx="25886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Партнёры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4563770" y="5833872"/>
            <a:ext cx="30824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компании экосистемы, поставщики, технологические партнёры</a:t>
            </a:r>
            <a:endParaRPr lang="en-US" sz="1050" dirty="0"/>
          </a:p>
        </p:txBody>
      </p:sp>
      <p:sp>
        <p:nvSpPr>
          <p:cNvPr id="41" name="Shape 33"/>
          <p:cNvSpPr/>
          <p:nvPr/>
        </p:nvSpPr>
        <p:spPr>
          <a:xfrm>
            <a:off x="8121701" y="5230368"/>
            <a:ext cx="3503066" cy="1097280"/>
          </a:xfrm>
          <a:prstGeom prst="roundRect">
            <a:avLst>
              <a:gd name="adj" fmla="val 6667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8322869" y="5431536"/>
            <a:ext cx="457200" cy="457200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6313" y="5554980"/>
            <a:ext cx="210312" cy="210312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8889797" y="5394960"/>
            <a:ext cx="25886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Общество и медиа</a:t>
            </a:r>
            <a:endParaRPr lang="en-US" sz="1250" dirty="0"/>
          </a:p>
        </p:txBody>
      </p:sp>
      <p:sp>
        <p:nvSpPr>
          <p:cNvPr id="45" name="Text 36"/>
          <p:cNvSpPr/>
          <p:nvPr/>
        </p:nvSpPr>
        <p:spPr>
          <a:xfrm>
            <a:off x="8341157" y="5833872"/>
            <a:ext cx="30824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регионы, НКО, профессиональное сообщество, СМИ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1434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СТЕЙКХОЛДЕРЫ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0519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Чего ждут ключевые группы</a:t>
            </a:r>
            <a:endParaRPr lang="en-US" sz="3100" dirty="0"/>
          </a:p>
        </p:txBody>
      </p:sp>
      <p:pic>
        <p:nvPicPr>
          <p:cNvPr id="4" name="Image 0" descr="/home/user/Evan/presentation/assets/sb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2703" y="420624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Сбер · Теория и практика связей с общественностью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161727" y="6455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66928" y="1572768"/>
            <a:ext cx="11057839" cy="658368"/>
          </a:xfrm>
          <a:prstGeom prst="roundRect">
            <a:avLst>
              <a:gd name="adj" fmla="val 11111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13232" y="1673352"/>
            <a:ext cx="457200" cy="457200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796796"/>
            <a:ext cx="210312" cy="2103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16736" y="157276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Регулятор и государство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636008" y="1572768"/>
            <a:ext cx="67144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Устойчивость, соблюдение норм, вклад в экономику и технологический суверенитет.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66928" y="2340864"/>
            <a:ext cx="11057839" cy="658368"/>
          </a:xfrm>
          <a:prstGeom prst="roundRect">
            <a:avLst>
              <a:gd name="adj" fmla="val 11111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13232" y="2441448"/>
            <a:ext cx="457200" cy="457200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2564892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16736" y="234086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Инвесторы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636008" y="2340864"/>
            <a:ext cx="67144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Прозрачность, предсказуемость, рост стоимости.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66928" y="3108960"/>
            <a:ext cx="11057839" cy="658368"/>
          </a:xfrm>
          <a:prstGeom prst="roundRect">
            <a:avLst>
              <a:gd name="adj" fmla="val 11111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13232" y="3209544"/>
            <a:ext cx="457200" cy="457200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" y="3332988"/>
            <a:ext cx="210312" cy="2103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16736" y="310896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Клиенты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4636008" y="3108960"/>
            <a:ext cx="67144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Сохранность денег и данных, надёжность, удобство, понятная выгода.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66928" y="3877056"/>
            <a:ext cx="11057839" cy="658368"/>
          </a:xfrm>
          <a:prstGeom prst="roundRect">
            <a:avLst>
              <a:gd name="adj" fmla="val 11111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13232" y="3977640"/>
            <a:ext cx="457200" cy="457200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" y="4101084"/>
            <a:ext cx="210312" cy="21031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316736" y="387705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Сотрудники и кандидаты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4636008" y="3877056"/>
            <a:ext cx="67144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Интересные задачи, развитие, репутация работодателя.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566928" y="4645152"/>
            <a:ext cx="11057839" cy="658368"/>
          </a:xfrm>
          <a:prstGeom prst="roundRect">
            <a:avLst>
              <a:gd name="adj" fmla="val 11111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713232" y="4745736"/>
            <a:ext cx="457200" cy="457200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" y="4869180"/>
            <a:ext cx="210312" cy="21031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316736" y="464515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Общество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4636008" y="4645152"/>
            <a:ext cx="67144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Безопасность, доступность услуг, ответственность бизнеса.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566928" y="5413248"/>
            <a:ext cx="11057839" cy="896112"/>
          </a:xfrm>
          <a:prstGeom prst="roundRect">
            <a:avLst>
              <a:gd name="adj" fmla="val 8163"/>
            </a:avLst>
          </a:prstGeom>
          <a:solidFill>
            <a:srgbClr val="21A038"/>
          </a:solidFill>
          <a:ln/>
          <a:effectLst>
            <a:outerShdw sx="100000" sy="100000" kx="0" ky="0" algn="bl" rotWithShape="0" blurRad="101600" dist="25400" dir="5400000">
              <a:srgbClr val="0A5C20">
                <a:alpha val="18000"/>
              </a:srgbClr>
            </a:outerShdw>
          </a:effectLst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" y="5592470"/>
            <a:ext cx="537667" cy="537667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671523" y="5486400"/>
            <a:ext cx="96789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 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интересы расходятся — например, быстрое внедрение ИИ против тревоги за данные. На этих стыках и возникают коммуникационные проблемы.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1434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ПРОБЛЕМЫ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0519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коммуникационные проблемы</a:t>
            </a:r>
            <a:endParaRPr lang="en-US" sz="3100" dirty="0"/>
          </a:p>
        </p:txBody>
      </p:sp>
      <p:pic>
        <p:nvPicPr>
          <p:cNvPr id="4" name="Image 0" descr="/home/user/Evan/presentation/assets/sb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2703" y="420624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Сбер · Теория и практика связей с общественностью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161727" y="6455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66928" y="1755648"/>
            <a:ext cx="3442106" cy="4069080"/>
          </a:xfrm>
          <a:prstGeom prst="roundRect">
            <a:avLst>
              <a:gd name="adj" fmla="val 2125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41248" y="1956816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C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0" dirty="0"/>
          </a:p>
        </p:txBody>
      </p:sp>
      <p:sp>
        <p:nvSpPr>
          <p:cNvPr id="9" name="Shape 6"/>
          <p:cNvSpPr/>
          <p:nvPr/>
        </p:nvSpPr>
        <p:spPr>
          <a:xfrm>
            <a:off x="3094634" y="2139696"/>
            <a:ext cx="603504" cy="603504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80" y="2302642"/>
            <a:ext cx="277612" cy="2776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9536" y="3273552"/>
            <a:ext cx="28934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Разрыв в восприятии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859536" y="4187952"/>
            <a:ext cx="289346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«Привычный госбанк» против образа технологического лидера.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374794" y="1755648"/>
            <a:ext cx="3442106" cy="4069080"/>
          </a:xfrm>
          <a:prstGeom prst="roundRect">
            <a:avLst>
              <a:gd name="adj" fmla="val 2125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649114" y="1956816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C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0" dirty="0"/>
          </a:p>
        </p:txBody>
      </p:sp>
      <p:sp>
        <p:nvSpPr>
          <p:cNvPr id="15" name="Shape 11"/>
          <p:cNvSpPr/>
          <p:nvPr/>
        </p:nvSpPr>
        <p:spPr>
          <a:xfrm>
            <a:off x="6902501" y="2139696"/>
            <a:ext cx="603504" cy="603504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447" y="2302642"/>
            <a:ext cx="277612" cy="2776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67402" y="3273552"/>
            <a:ext cx="28934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Доверие и безопасность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4667402" y="4187952"/>
            <a:ext cx="289346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Мошенничество и настороженность к данным и ИИ бьют по доверию.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8182661" y="1755648"/>
            <a:ext cx="3442106" cy="4069080"/>
          </a:xfrm>
          <a:prstGeom prst="roundRect">
            <a:avLst>
              <a:gd name="adj" fmla="val 2125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8456981" y="1956816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C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0" dirty="0"/>
          </a:p>
        </p:txBody>
      </p:sp>
      <p:sp>
        <p:nvSpPr>
          <p:cNvPr id="21" name="Shape 16"/>
          <p:cNvSpPr/>
          <p:nvPr/>
        </p:nvSpPr>
        <p:spPr>
          <a:xfrm>
            <a:off x="10710367" y="2139696"/>
            <a:ext cx="603504" cy="603504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3313" y="2302642"/>
            <a:ext cx="277612" cy="2776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475269" y="3273552"/>
            <a:ext cx="28934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«Госбанк на господдержке»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8475269" y="4187952"/>
            <a:ext cx="289346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Мнение, что успех держится на госстатусе, а не на эффективности.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1434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ПРОБЛЕМЫ · ДЕТАЛЬНО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0519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Разрыв в восприятии и доверие</a:t>
            </a:r>
            <a:endParaRPr lang="en-US" sz="3100" dirty="0"/>
          </a:p>
        </p:txBody>
      </p:sp>
      <p:pic>
        <p:nvPicPr>
          <p:cNvPr id="4" name="Image 0" descr="/home/user/Evan/presentation/assets/sb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2703" y="420624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Сбер · Теория и практика связей с общественностью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161727" y="6455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66928" y="1554480"/>
            <a:ext cx="5346040" cy="4736592"/>
          </a:xfrm>
          <a:prstGeom prst="roundRect">
            <a:avLst>
              <a:gd name="adj" fmla="val 1544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59536" y="1865376"/>
            <a:ext cx="640080" cy="640080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358" y="2038198"/>
            <a:ext cx="294437" cy="29443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64208" y="1865376"/>
            <a:ext cx="406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1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1664208" y="2121408"/>
            <a:ext cx="406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Разрыв в восприятии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877824" y="2852928"/>
            <a:ext cx="47425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Сбер вкладывается в ИИ, но в массовом сознании остаётся «Сбербанком» — банком по привычке.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Реальная идентичность опережает репутацию.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77824" y="4663440"/>
            <a:ext cx="4742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Кого касается:  </a:t>
            </a:r>
            <a:pPr indent="0" marL="0">
              <a:buNone/>
            </a:pPr>
            <a:r>
              <a:rPr lang="en-US" sz="125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общество, IT-сообщество, инвесторы, кандидаты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77824" y="5321808"/>
            <a:ext cx="4724248" cy="768096"/>
          </a:xfrm>
          <a:prstGeom prst="roundRect">
            <a:avLst>
              <a:gd name="adj" fmla="val 9524"/>
            </a:avLst>
          </a:prstGeom>
          <a:solidFill>
            <a:srgbClr val="FBEED7"/>
          </a:solidFill>
          <a:ln/>
        </p:spPr>
      </p:sp>
      <p:sp>
        <p:nvSpPr>
          <p:cNvPr id="15" name="Text 11"/>
          <p:cNvSpPr/>
          <p:nvPr/>
        </p:nvSpPr>
        <p:spPr>
          <a:xfrm>
            <a:off x="1078992" y="5376672"/>
            <a:ext cx="434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Риск:  </a:t>
            </a:r>
            <a:pPr indent="0" marL="0">
              <a:buNone/>
            </a:pPr>
            <a:r>
              <a:rPr lang="en-US" sz="1250" dirty="0">
                <a:solidFill>
                  <a:srgbClr val="6B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вложения в технологии не превращаются в образ лидера.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278728" y="1554480"/>
            <a:ext cx="5346040" cy="4736592"/>
          </a:xfrm>
          <a:prstGeom prst="roundRect">
            <a:avLst>
              <a:gd name="adj" fmla="val 1544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71336" y="1865376"/>
            <a:ext cx="640080" cy="640080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157" y="2038198"/>
            <a:ext cx="294437" cy="29443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76008" y="1865376"/>
            <a:ext cx="406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2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7376008" y="2121408"/>
            <a:ext cx="406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Доверие и безопасность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589624" y="2852928"/>
            <a:ext cx="47425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Телефонное мошенничество растёт; потеряв деньги, человек нередко винит банк.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Рядом — тревога вокруг обработки данных и ИИ.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589624" y="4663440"/>
            <a:ext cx="4742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Кого касается:  </a:t>
            </a:r>
            <a:pPr indent="0" marL="0">
              <a:buNone/>
            </a:pPr>
            <a:r>
              <a:rPr lang="en-US" sz="125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розничные клиенты, регулятор, общество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589624" y="5321808"/>
            <a:ext cx="4724248" cy="768096"/>
          </a:xfrm>
          <a:prstGeom prst="roundRect">
            <a:avLst>
              <a:gd name="adj" fmla="val 9524"/>
            </a:avLst>
          </a:prstGeom>
          <a:solidFill>
            <a:srgbClr val="FBEED7"/>
          </a:solidFill>
          <a:ln/>
        </p:spPr>
      </p:sp>
      <p:sp>
        <p:nvSpPr>
          <p:cNvPr id="24" name="Text 19"/>
          <p:cNvSpPr/>
          <p:nvPr/>
        </p:nvSpPr>
        <p:spPr>
          <a:xfrm>
            <a:off x="6790792" y="5376672"/>
            <a:ext cx="434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Риск:  </a:t>
            </a:r>
            <a:pPr indent="0" marL="0">
              <a:buNone/>
            </a:pPr>
            <a:r>
              <a:rPr lang="en-US" sz="1250" dirty="0">
                <a:solidFill>
                  <a:srgbClr val="6B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подрывается главный актив банка — доверие.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1434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3 → РЕШЕНИЕ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0519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«Госбанк на господдержке» — и ответ на него</a:t>
            </a:r>
            <a:endParaRPr lang="en-US" sz="3100" dirty="0"/>
          </a:p>
        </p:txBody>
      </p:sp>
      <p:pic>
        <p:nvPicPr>
          <p:cNvPr id="4" name="Image 0" descr="/home/user/Evan/presentation/assets/sb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2703" y="420624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Сбер · Теория и практика связей с общественностью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161727" y="6455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66928" y="1536192"/>
            <a:ext cx="3977640" cy="4754880"/>
          </a:xfrm>
          <a:prstGeom prst="roundRect">
            <a:avLst>
              <a:gd name="adj" fmla="val 1839"/>
            </a:avLst>
          </a:prstGeom>
          <a:solidFill>
            <a:srgbClr val="FBEED7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" y="1828800"/>
            <a:ext cx="603504" cy="603504"/>
          </a:xfrm>
          <a:prstGeom prst="ellipse">
            <a:avLst/>
          </a:prstGeom>
          <a:solidFill>
            <a:srgbClr val="B5710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94" y="1991746"/>
            <a:ext cx="277612" cy="2776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91056" y="18470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5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3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1591056" y="21031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«Госбанк на господдержке»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59536" y="2907792"/>
            <a:ext cx="3392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Мнение: Сбер силён не своей эффективностью, а госстатусом — дешёвым фондированием, системной поддержкой, близостью к власти.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59536" y="4507992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5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Кого касается:  </a:t>
            </a:r>
            <a:pPr indent="0" marL="0">
              <a:buNone/>
            </a:pPr>
            <a:r>
              <a:rPr lang="en-US" sz="1250" dirty="0">
                <a:solidFill>
                  <a:srgbClr val="5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общество, деловое и экспертное сообщество, инвесторы.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859536" y="5468112"/>
            <a:ext cx="3392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5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Риск:  </a:t>
            </a:r>
            <a:pPr indent="0" marL="0">
              <a:buNone/>
            </a:pPr>
            <a:r>
              <a:rPr lang="en-US" sz="1250" dirty="0">
                <a:solidFill>
                  <a:srgbClr val="5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достижения банка обесцениваются как «нерыночные».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910328" y="1536192"/>
            <a:ext cx="67144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</a:t>
            </a:r>
            <a:pPr indent="0" marL="0">
              <a:buNone/>
            </a:pPr>
            <a:r>
              <a:rPr lang="en-US" sz="160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показать обратный поток ценности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910328" y="1993392"/>
            <a:ext cx="3220060" cy="1051560"/>
          </a:xfrm>
          <a:prstGeom prst="roundRect">
            <a:avLst>
              <a:gd name="adj" fmla="val 6957"/>
            </a:avLst>
          </a:prstGeom>
          <a:solidFill>
            <a:srgbClr val="E9F5EC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148072" y="2048256"/>
            <a:ext cx="27628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 трлн ₽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5148072" y="2578608"/>
            <a:ext cx="27628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 группы Сбер в бюджет за 2025 год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404708" y="1993392"/>
            <a:ext cx="3220060" cy="1051560"/>
          </a:xfrm>
          <a:prstGeom prst="roundRect">
            <a:avLst>
              <a:gd name="adj" fmla="val 6957"/>
            </a:avLst>
          </a:prstGeom>
          <a:solidFill>
            <a:srgbClr val="E9F5EC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8642452" y="2048256"/>
            <a:ext cx="27628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543 млрд ₽</a:t>
            </a:r>
            <a:endParaRPr lang="en-US" sz="3000" dirty="0"/>
          </a:p>
        </p:txBody>
      </p:sp>
      <p:sp>
        <p:nvSpPr>
          <p:cNvPr id="21" name="Text 17"/>
          <p:cNvSpPr/>
          <p:nvPr/>
        </p:nvSpPr>
        <p:spPr>
          <a:xfrm>
            <a:off x="8642452" y="2578608"/>
            <a:ext cx="27628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них налог на прибыль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4910328" y="3200400"/>
            <a:ext cx="67144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Рыночный успех, а не только статус: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4956048" y="3493008"/>
            <a:ext cx="66229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самая дорогая компания на бирже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 по внедрению ИИ в России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из лучших соотношений расходов к доходам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910328" y="4462272"/>
            <a:ext cx="6714439" cy="658368"/>
          </a:xfrm>
          <a:prstGeom prst="roundRect">
            <a:avLst>
              <a:gd name="adj" fmla="val 11111"/>
            </a:avLst>
          </a:prstGeom>
          <a:solidFill>
            <a:srgbClr val="21A038"/>
          </a:solidFill>
          <a:ln/>
          <a:effectLst>
            <a:outerShdw sx="100000" sy="100000" kx="0" ky="0" algn="bl" rotWithShape="0" blurRad="101600" dist="25400" dir="5400000">
              <a:srgbClr val="0A5C20">
                <a:alpha val="18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224" y="4593946"/>
            <a:ext cx="395021" cy="395021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872277" y="4535424"/>
            <a:ext cx="547817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Главное: 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государство содержит Сбер — Сбер наполняет бюджет.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4910328" y="5266944"/>
            <a:ext cx="67144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Инструменты:  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годовой отчёт и раскрытие по МСФО, деловые СМИ, выступления топ-менеджмента, инфографика о вкладе в экономику, IR / GR.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1434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0519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 под каждую проблему</a:t>
            </a:r>
            <a:endParaRPr lang="en-US" sz="3100" dirty="0"/>
          </a:p>
        </p:txBody>
      </p:sp>
      <p:pic>
        <p:nvPicPr>
          <p:cNvPr id="4" name="Image 0" descr="/home/user/Evan/presentation/assets/sb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2703" y="420624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Сбер · Теория и практика связей с общественностью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161727" y="6455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66928" y="1645920"/>
            <a:ext cx="3466490" cy="4617720"/>
          </a:xfrm>
          <a:prstGeom prst="roundRect">
            <a:avLst>
              <a:gd name="adj" fmla="val 2110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41248" y="1938528"/>
            <a:ext cx="566928" cy="566928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319" y="2091599"/>
            <a:ext cx="260787" cy="2607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27048" y="1920240"/>
            <a:ext cx="232349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55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Восприятие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877824" y="2724912"/>
            <a:ext cx="288127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экспертные публикации и выступления</a:t>
            </a:r>
            <a:endParaRPr lang="en-US" sz="1300" dirty="0"/>
          </a:p>
          <a:p>
            <a:pPr marL="165100" indent="-1651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профильные СМИ</a:t>
            </a:r>
            <a:endParaRPr lang="en-US" sz="1300" dirty="0"/>
          </a:p>
          <a:p>
            <a:pPr marL="165100" indent="-1651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конференция AI Journey</a:t>
            </a:r>
            <a:endParaRPr lang="en-US" sz="1300" dirty="0"/>
          </a:p>
          <a:p>
            <a:pPr marL="165100" indent="-1651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узнаваемые спикеры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62602" y="1645920"/>
            <a:ext cx="3466490" cy="4617720"/>
          </a:xfrm>
          <a:prstGeom prst="roundRect">
            <a:avLst>
              <a:gd name="adj" fmla="val 2110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36922" y="1938528"/>
            <a:ext cx="566928" cy="566928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993" y="2091599"/>
            <a:ext cx="260787" cy="26078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22722" y="1920240"/>
            <a:ext cx="232349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55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Доверие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4673498" y="2724912"/>
            <a:ext cx="288127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просвещение по финансовой и цифровой грамотности</a:t>
            </a:r>
            <a:endParaRPr lang="en-US" sz="1300" dirty="0"/>
          </a:p>
          <a:p>
            <a:pPr marL="165100" indent="-1651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протоколы реагирования на инциденты</a:t>
            </a:r>
            <a:endParaRPr lang="en-US" sz="1300" dirty="0"/>
          </a:p>
          <a:p>
            <a:pPr marL="165100" indent="-1651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 разговор о защите данных</a:t>
            </a:r>
            <a:endParaRPr lang="en-US" sz="1300" dirty="0"/>
          </a:p>
          <a:p>
            <a:pPr marL="165100" indent="-1651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партнёрство с государством и НКО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158277" y="1645920"/>
            <a:ext cx="3466490" cy="4617720"/>
          </a:xfrm>
          <a:prstGeom prst="roundRect">
            <a:avLst>
              <a:gd name="adj" fmla="val 2110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432597" y="1938528"/>
            <a:ext cx="566928" cy="566928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5667" y="2091599"/>
            <a:ext cx="260787" cy="26078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18397" y="1920240"/>
            <a:ext cx="232349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55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«Госбанк на господдержке»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8469173" y="2724912"/>
            <a:ext cx="288127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факты о вкладе в бюджет</a:t>
            </a:r>
            <a:endParaRPr lang="en-US" sz="1300" dirty="0"/>
          </a:p>
          <a:p>
            <a:pPr marL="165100" indent="-1651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годовой отчёт и МСФО</a:t>
            </a:r>
            <a:endParaRPr lang="en-US" sz="1300" dirty="0"/>
          </a:p>
          <a:p>
            <a:pPr marL="165100" indent="-1651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деловые СМИ</a:t>
            </a:r>
            <a:endParaRPr lang="en-US" sz="1300" dirty="0"/>
          </a:p>
          <a:p>
            <a:pPr marL="165100" indent="-1651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инфографика об экономическом вкладе</a:t>
            </a:r>
            <a:endParaRPr lang="en-US" sz="1300" dirty="0"/>
          </a:p>
          <a:p>
            <a:pPr marL="165100" indent="-1651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/ GR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1434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ФЛАГМАН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0519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Конференция AI Journey</a:t>
            </a:r>
            <a:endParaRPr lang="en-US" sz="3100" dirty="0"/>
          </a:p>
        </p:txBody>
      </p:sp>
      <p:pic>
        <p:nvPicPr>
          <p:cNvPr id="4" name="Image 0" descr="/home/user/Evan/presentation/assets/sb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2703" y="420624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Сбер · Теория и практика связей с общественностью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161727" y="6455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66928" y="1572768"/>
            <a:ext cx="5364328" cy="1572768"/>
          </a:xfrm>
          <a:prstGeom prst="roundRect">
            <a:avLst>
              <a:gd name="adj" fmla="val 4651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41248" y="1828800"/>
            <a:ext cx="512064" cy="512064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505" y="1967057"/>
            <a:ext cx="235549" cy="23554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81328" y="184708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59536" y="2359152"/>
            <a:ext cx="4797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Ежегодная международная конференция по ИИ — научный, деловой и образовательный треки, открытая онлайн-трансляция, конкурсы для разработчиков и исследователей.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260440" y="1572768"/>
            <a:ext cx="5364328" cy="1572768"/>
          </a:xfrm>
          <a:prstGeom prst="roundRect">
            <a:avLst>
              <a:gd name="adj" fmla="val 4651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34760" y="1828800"/>
            <a:ext cx="512064" cy="512064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017" y="1967057"/>
            <a:ext cx="235549" cy="23554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74840" y="184708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ПЛОЩАДКИ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553048" y="2359152"/>
            <a:ext cx="4797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AI Journey Сбер представляет новые версии GigaChat — событие работает как витрина технологий.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66928" y="3419856"/>
            <a:ext cx="5364328" cy="1572768"/>
          </a:xfrm>
          <a:prstGeom prst="roundRect">
            <a:avLst>
              <a:gd name="adj" fmla="val 4651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41248" y="3675888"/>
            <a:ext cx="512064" cy="512064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505" y="3814145"/>
            <a:ext cx="235549" cy="23554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81328" y="3694176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КОГО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859536" y="4206240"/>
            <a:ext cx="4797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Разработчики и учёные, IT-сообщество, медиа, частично государство и инвесторы.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260440" y="3419856"/>
            <a:ext cx="5364328" cy="1572768"/>
          </a:xfrm>
          <a:prstGeom prst="roundRect">
            <a:avLst>
              <a:gd name="adj" fmla="val 4651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534760" y="3675888"/>
            <a:ext cx="512064" cy="512064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3017" y="3814145"/>
            <a:ext cx="235549" cy="235549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174840" y="3694176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6553048" y="4206240"/>
            <a:ext cx="4797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Закрепить образ технологического лидера, показать зрелость GigaChat и научной школы, повысить доверие к российскому ИИ.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566928" y="5449824"/>
            <a:ext cx="11057839" cy="841248"/>
          </a:xfrm>
          <a:prstGeom prst="roundRect">
            <a:avLst>
              <a:gd name="adj" fmla="val 8696"/>
            </a:avLst>
          </a:prstGeom>
          <a:solidFill>
            <a:srgbClr val="21A038"/>
          </a:solidFill>
          <a:ln/>
          <a:effectLst>
            <a:outerShdw sx="100000" sy="100000" kx="0" ky="0" algn="bl" rotWithShape="0" blurRad="101600" dist="25400" dir="5400000">
              <a:srgbClr val="0A5C20">
                <a:alpha val="18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5618074"/>
            <a:ext cx="504749" cy="504749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638605" y="5522976"/>
            <a:ext cx="971184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Закрывает: 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проблему №1 (восприятие), отчасти №2 (доверие к ИИ); показывает, что Сбер конкурирует на технологиях.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1434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ФЛАГМАН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0519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СберУниверситет</a:t>
            </a:r>
            <a:endParaRPr lang="en-US" sz="3100" dirty="0"/>
          </a:p>
        </p:txBody>
      </p:sp>
      <p:pic>
        <p:nvPicPr>
          <p:cNvPr id="4" name="Image 0" descr="/home/user/Evan/presentation/assets/sb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2703" y="420624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Сбер · Теория и практика связей с общественностью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161727" y="6455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66928" y="1554480"/>
            <a:ext cx="5364328" cy="1078992"/>
          </a:xfrm>
          <a:prstGeom prst="roundRect">
            <a:avLst>
              <a:gd name="adj" fmla="val 6780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755648"/>
            <a:ext cx="493776" cy="493776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280" y="1888968"/>
            <a:ext cx="227137" cy="22713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44752" y="1682496"/>
            <a:ext cx="430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444752" y="1938528"/>
            <a:ext cx="4303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Корпоративный университет с кампусом в Истре — программы для сотрудников и руководителей плюс открытые форматы.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60440" y="1554480"/>
            <a:ext cx="5364328" cy="1078992"/>
          </a:xfrm>
          <a:prstGeom prst="roundRect">
            <a:avLst>
              <a:gd name="adj" fmla="val 6780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16472" y="1755648"/>
            <a:ext cx="493776" cy="493776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791" y="1888968"/>
            <a:ext cx="227137" cy="22713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38264" y="1682496"/>
            <a:ext cx="430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ПУБЛИЧНОЕ СОБЫТИЕ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7138264" y="1938528"/>
            <a:ext cx="4303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Ежегодная конференция «Больше чем обучение».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66928" y="2798064"/>
            <a:ext cx="3503066" cy="1078992"/>
          </a:xfrm>
          <a:prstGeom prst="roundRect">
            <a:avLst>
              <a:gd name="adj" fmla="val 6780"/>
            </a:avLst>
          </a:prstGeom>
          <a:solidFill>
            <a:srgbClr val="E9F5EC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3393338" y="2980944"/>
            <a:ext cx="457200" cy="457200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6782" y="3104388"/>
            <a:ext cx="210312" cy="2103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04672" y="2944368"/>
            <a:ext cx="26801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10 000</a:t>
            </a:r>
            <a:endParaRPr lang="en-US" sz="3000" dirty="0"/>
          </a:p>
        </p:txBody>
      </p:sp>
      <p:sp>
        <p:nvSpPr>
          <p:cNvPr id="21" name="Text 15"/>
          <p:cNvSpPr/>
          <p:nvPr/>
        </p:nvSpPr>
        <p:spPr>
          <a:xfrm>
            <a:off x="804672" y="3474720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участников очно и онлайн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4344314" y="2798064"/>
            <a:ext cx="3503066" cy="1078992"/>
          </a:xfrm>
          <a:prstGeom prst="roundRect">
            <a:avLst>
              <a:gd name="adj" fmla="val 6780"/>
            </a:avLst>
          </a:prstGeom>
          <a:solidFill>
            <a:srgbClr val="E9F5EC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170725" y="2980944"/>
            <a:ext cx="457200" cy="457200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4169" y="3104388"/>
            <a:ext cx="210312" cy="21031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582058" y="2944368"/>
            <a:ext cx="26801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млн+</a:t>
            </a:r>
            <a:endParaRPr lang="en-US" sz="3000" dirty="0"/>
          </a:p>
        </p:txBody>
      </p:sp>
      <p:sp>
        <p:nvSpPr>
          <p:cNvPr id="26" name="Text 19"/>
          <p:cNvSpPr/>
          <p:nvPr/>
        </p:nvSpPr>
        <p:spPr>
          <a:xfrm>
            <a:off x="4582058" y="3474720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просмотров трансляции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8121701" y="2798064"/>
            <a:ext cx="3503066" cy="1078992"/>
          </a:xfrm>
          <a:prstGeom prst="roundRect">
            <a:avLst>
              <a:gd name="adj" fmla="val 6780"/>
            </a:avLst>
          </a:prstGeom>
          <a:solidFill>
            <a:srgbClr val="E9F5EC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10948111" y="2980944"/>
            <a:ext cx="457200" cy="457200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1555" y="3104388"/>
            <a:ext cx="210312" cy="21031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359445" y="2944368"/>
            <a:ext cx="26801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3000" dirty="0"/>
          </a:p>
        </p:txBody>
      </p:sp>
      <p:sp>
        <p:nvSpPr>
          <p:cNvPr id="31" name="Text 23"/>
          <p:cNvSpPr/>
          <p:nvPr/>
        </p:nvSpPr>
        <p:spPr>
          <a:xfrm>
            <a:off x="8359445" y="3474720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спикеров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566928" y="4041648"/>
            <a:ext cx="5364328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22960" y="4279392"/>
            <a:ext cx="493776" cy="493776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280" y="4412712"/>
            <a:ext cx="227137" cy="227137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444752" y="4224528"/>
            <a:ext cx="430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КОГО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1444752" y="4498848"/>
            <a:ext cx="4303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— сотрудники и менеджмент; снаружи — кандидаты, студенты и вузы, профессиональное сообщество, медиа.</a:t>
            </a:r>
            <a:endParaRPr lang="en-US" sz="1200" dirty="0"/>
          </a:p>
        </p:txBody>
      </p:sp>
      <p:sp>
        <p:nvSpPr>
          <p:cNvPr id="37" name="Shape 28"/>
          <p:cNvSpPr/>
          <p:nvPr/>
        </p:nvSpPr>
        <p:spPr>
          <a:xfrm>
            <a:off x="6260440" y="4041648"/>
            <a:ext cx="5364328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25400" dir="5400000">
              <a:srgbClr val="1B3A28">
                <a:alpha val="10000"/>
              </a:srgbClr>
            </a:outerShdw>
          </a:effectLst>
        </p:spPr>
      </p:sp>
      <p:sp>
        <p:nvSpPr>
          <p:cNvPr id="38" name="Shape 29"/>
          <p:cNvSpPr/>
          <p:nvPr/>
        </p:nvSpPr>
        <p:spPr>
          <a:xfrm>
            <a:off x="6516472" y="4279392"/>
            <a:ext cx="493776" cy="493776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9791" y="4412712"/>
            <a:ext cx="227137" cy="227137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138264" y="4224528"/>
            <a:ext cx="430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</a:t>
            </a:r>
            <a:endParaRPr lang="en-US" sz="1200" dirty="0"/>
          </a:p>
        </p:txBody>
      </p:sp>
      <p:sp>
        <p:nvSpPr>
          <p:cNvPr id="41" name="Text 31"/>
          <p:cNvSpPr/>
          <p:nvPr/>
        </p:nvSpPr>
        <p:spPr>
          <a:xfrm>
            <a:off x="7138264" y="4498848"/>
            <a:ext cx="4303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5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Усилить репутацию работодателя, показать экспертизу в образовании и управлении.</a:t>
            </a:r>
            <a:endParaRPr lang="en-US" sz="1200" dirty="0"/>
          </a:p>
        </p:txBody>
      </p:sp>
      <p:sp>
        <p:nvSpPr>
          <p:cNvPr id="42" name="Shape 32"/>
          <p:cNvSpPr/>
          <p:nvPr/>
        </p:nvSpPr>
        <p:spPr>
          <a:xfrm>
            <a:off x="566928" y="5431536"/>
            <a:ext cx="11057839" cy="859536"/>
          </a:xfrm>
          <a:prstGeom prst="roundRect">
            <a:avLst>
              <a:gd name="adj" fmla="val 8511"/>
            </a:avLst>
          </a:prstGeom>
          <a:solidFill>
            <a:srgbClr val="21A038"/>
          </a:solidFill>
          <a:ln/>
          <a:effectLst>
            <a:outerShdw sx="100000" sy="100000" kx="0" ky="0" algn="bl" rotWithShape="0" blurRad="101600" dist="25400" dir="5400000">
              <a:srgbClr val="0A5C20">
                <a:alpha val="18000"/>
              </a:srgbClr>
            </a:outerShdw>
          </a:effectLst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824" y="5603443"/>
            <a:ext cx="515722" cy="515722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1649578" y="5504688"/>
            <a:ext cx="970087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Закрывает: 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проблему №1 — образ современной, развивающей организации.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ИЗМЕРЕНИЕ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1434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измерять результат</a:t>
            </a:r>
            <a:endParaRPr lang="en-US" sz="3100" dirty="0"/>
          </a:p>
        </p:txBody>
      </p:sp>
      <p:pic>
        <p:nvPicPr>
          <p:cNvPr id="4" name="Image 0" descr="/home/user/Evan/presentation/assets/sber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7839" y="457200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783080"/>
            <a:ext cx="5346040" cy="1938528"/>
          </a:xfrm>
          <a:prstGeom prst="roundRect">
            <a:avLst>
              <a:gd name="adj" fmla="val 3774"/>
            </a:avLst>
          </a:prstGeom>
          <a:solidFill>
            <a:srgbClr val="11301E"/>
          </a:solidFill>
          <a:ln w="12700">
            <a:solidFill>
              <a:srgbClr val="21492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" y="2112264"/>
            <a:ext cx="658368" cy="658368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583" y="2290023"/>
            <a:ext cx="302849" cy="30284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55648" y="2167128"/>
            <a:ext cx="388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896112" y="2880360"/>
            <a:ext cx="470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A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и тональность упоминаний; доля «технологического» сюжета в публикациях.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278728" y="1783080"/>
            <a:ext cx="5346040" cy="1938528"/>
          </a:xfrm>
          <a:prstGeom prst="roundRect">
            <a:avLst>
              <a:gd name="adj" fmla="val 3774"/>
            </a:avLst>
          </a:prstGeom>
          <a:solidFill>
            <a:srgbClr val="11301E"/>
          </a:solidFill>
          <a:ln w="12700">
            <a:solidFill>
              <a:srgbClr val="21492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89624" y="2112264"/>
            <a:ext cx="658368" cy="658368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7383" y="2290023"/>
            <a:ext cx="302849" cy="30284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67448" y="2167128"/>
            <a:ext cx="388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Доверие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6607912" y="2880360"/>
            <a:ext cx="470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A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Опросы восприятия (банк против техкомпании); динамика темы безопасности.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66928" y="4032504"/>
            <a:ext cx="5346040" cy="1938528"/>
          </a:xfrm>
          <a:prstGeom prst="roundRect">
            <a:avLst>
              <a:gd name="adj" fmla="val 3774"/>
            </a:avLst>
          </a:prstGeom>
          <a:solidFill>
            <a:srgbClr val="11301E"/>
          </a:solidFill>
          <a:ln w="12700">
            <a:solidFill>
              <a:srgbClr val="21492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77824" y="4361688"/>
            <a:ext cx="658368" cy="658368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583" y="4539447"/>
            <a:ext cx="302849" cy="30284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755648" y="4416552"/>
            <a:ext cx="388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Легитимность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896112" y="5129784"/>
            <a:ext cx="470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A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публикаций, где Сбер показан как вкладчик в бюджет и рыночный игрок.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278728" y="4032504"/>
            <a:ext cx="5346040" cy="1938528"/>
          </a:xfrm>
          <a:prstGeom prst="roundRect">
            <a:avLst>
              <a:gd name="adj" fmla="val 3774"/>
            </a:avLst>
          </a:prstGeom>
          <a:solidFill>
            <a:srgbClr val="11301E"/>
          </a:solidFill>
          <a:ln w="12700">
            <a:solidFill>
              <a:srgbClr val="21492F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589624" y="4361688"/>
            <a:ext cx="658368" cy="658368"/>
          </a:xfrm>
          <a:prstGeom prst="ellipse">
            <a:avLst/>
          </a:prstGeom>
          <a:solidFill>
            <a:srgbClr val="21A038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7383" y="4539447"/>
            <a:ext cx="302849" cy="30284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67448" y="4416552"/>
            <a:ext cx="388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Охваты</a:t>
            </a:r>
            <a:endParaRPr lang="en-US" sz="1900" dirty="0"/>
          </a:p>
        </p:txBody>
      </p:sp>
      <p:sp>
        <p:nvSpPr>
          <p:cNvPr id="24" name="Text 17"/>
          <p:cNvSpPr/>
          <p:nvPr/>
        </p:nvSpPr>
        <p:spPr>
          <a:xfrm>
            <a:off x="6607912" y="5129784"/>
            <a:ext cx="470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A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Аудитория ключевых событий — AI Journey и «Больше чем обучение».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Сбер · Теория и практика связей с общественностью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0161727" y="6455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Сбер — стейкхолдеры, коммуникационные проблемы и PR-решения</dc:title>
  <dc:subject>PptxGenJS Presentation</dc:subject>
  <dc:creator>ТПСО</dc:creator>
  <cp:lastModifiedBy>ТПСО</cp:lastModifiedBy>
  <cp:revision>1</cp:revision>
  <dcterms:created xsi:type="dcterms:W3CDTF">2026-06-14T18:17:13Z</dcterms:created>
  <dcterms:modified xsi:type="dcterms:W3CDTF">2026-06-14T18:17:13Z</dcterms:modified>
</cp:coreProperties>
</file>